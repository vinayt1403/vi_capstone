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G Jory" charset="1" panose="02000000000000000000"/>
      <p:regular r:id="rId20"/>
    </p:embeddedFont>
    <p:embeddedFont>
      <p:font typeface="League Spartan" charset="1" panose="00000800000000000000"/>
      <p:regular r:id="rId21"/>
    </p:embeddedFont>
    <p:embeddedFont>
      <p:font typeface="DG Jory Bold" charset="1" panose="02000000000000000000"/>
      <p:regular r:id="rId22"/>
    </p:embeddedFont>
    <p:embeddedFont>
      <p:font typeface="Canva Sans Bold" charset="1" panose="020B08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7933" y="59261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680067" y="-251105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589181" y="6165990"/>
            <a:ext cx="5109638" cy="2203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E-Commerce Sales Analysis</a:t>
            </a:r>
          </a:p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Vinay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9181" y="1019175"/>
            <a:ext cx="5109638" cy="4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6"/>
              </a:lnSpc>
              <a:spcBef>
                <a:spcPct val="0"/>
              </a:spcBef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Vinay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41804" y="8775675"/>
            <a:ext cx="6204392" cy="48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vinaytivarekar1403@gmail.com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3841" y="3630669"/>
            <a:ext cx="10200318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12"/>
              </a:lnSpc>
            </a:pPr>
            <a:r>
              <a:rPr lang="en-US" sz="834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021566" y="1558017"/>
            <a:ext cx="5994124" cy="1773322"/>
            <a:chOff x="0" y="0"/>
            <a:chExt cx="2747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63750" y="1700201"/>
            <a:ext cx="5994124" cy="1773322"/>
            <a:chOff x="0" y="0"/>
            <a:chExt cx="27474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671914" y="3701454"/>
            <a:ext cx="6696178" cy="495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 b="true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Capstone Project: E-commerce Sales Analysis Project :-</a:t>
            </a: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This project performs an end-to-end data analysis of an e-commerce platform (simulating Amazon sales data). The analysis covers the entire workflow: from raw messy data cleaning, exploratory data analysis, advanced analysis, and insights generation to actionable business recommendations.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391379" y="3983675"/>
            <a:ext cx="3534442" cy="4461471"/>
            <a:chOff x="0" y="0"/>
            <a:chExt cx="547578" cy="6911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7578" cy="691199"/>
            </a:xfrm>
            <a:custGeom>
              <a:avLst/>
              <a:gdLst/>
              <a:ahLst/>
              <a:cxnLst/>
              <a:rect r="r" b="b" t="t" l="l"/>
              <a:pathLst>
                <a:path h="691199" w="547578">
                  <a:moveTo>
                    <a:pt x="0" y="0"/>
                  </a:moveTo>
                  <a:lnTo>
                    <a:pt x="547578" y="0"/>
                  </a:lnTo>
                  <a:lnTo>
                    <a:pt x="547578" y="691199"/>
                  </a:lnTo>
                  <a:lnTo>
                    <a:pt x="0" y="691199"/>
                  </a:lnTo>
                  <a:close/>
                </a:path>
              </a:pathLst>
            </a:custGeom>
            <a:blipFill>
              <a:blip r:embed="rId4"/>
              <a:stretch>
                <a:fillRect l="0" t="0" r="-26228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130126" y="2070379"/>
            <a:ext cx="6027748" cy="74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5994124" cy="1773322"/>
            <a:chOff x="0" y="0"/>
            <a:chExt cx="27474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0884" y="1170884"/>
            <a:ext cx="5994124" cy="1773322"/>
            <a:chOff x="0" y="0"/>
            <a:chExt cx="2747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3209939"/>
            <a:ext cx="4882567" cy="851368"/>
            <a:chOff x="0" y="0"/>
            <a:chExt cx="1285944" cy="2242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5944" cy="224229"/>
            </a:xfrm>
            <a:custGeom>
              <a:avLst/>
              <a:gdLst/>
              <a:ahLst/>
              <a:cxnLst/>
              <a:rect r="r" b="b" t="t" l="l"/>
              <a:pathLst>
                <a:path h="224229" w="1285944">
                  <a:moveTo>
                    <a:pt x="0" y="0"/>
                  </a:moveTo>
                  <a:lnTo>
                    <a:pt x="1285944" y="0"/>
                  </a:lnTo>
                  <a:lnTo>
                    <a:pt x="1285944" y="224229"/>
                  </a:lnTo>
                  <a:lnTo>
                    <a:pt x="0" y="224229"/>
                  </a:lnTo>
                  <a:close/>
                </a:path>
              </a:pathLst>
            </a:custGeom>
            <a:solidFill>
              <a:srgbClr val="9BDAE9">
                <a:alpha val="4980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5944" cy="27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094338"/>
            <a:ext cx="11764373" cy="495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• Analyze sales data to identify trends, top products, and revenue distribution. 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• Detect and handle inconsistencies, missing values, and formatting issues in raw data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. • Understand customer behavior and preferences.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• Generate actionable recommendations to improve sales and marketing strategies. </a:t>
            </a:r>
          </a:p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• Create visualizations and reports suitable for business stakeholders.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9792" y="3376008"/>
            <a:ext cx="47403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 &amp;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260" y="1541062"/>
            <a:ext cx="6027748" cy="7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GOALS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34580" y="3617553"/>
            <a:ext cx="10922443" cy="6375661"/>
            <a:chOff x="0" y="0"/>
            <a:chExt cx="2876693" cy="16791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76693" cy="1679186"/>
            </a:xfrm>
            <a:custGeom>
              <a:avLst/>
              <a:gdLst/>
              <a:ahLst/>
              <a:cxnLst/>
              <a:rect r="r" b="b" t="t" l="l"/>
              <a:pathLst>
                <a:path h="1679186" w="2876693">
                  <a:moveTo>
                    <a:pt x="0" y="0"/>
                  </a:moveTo>
                  <a:lnTo>
                    <a:pt x="2876693" y="0"/>
                  </a:lnTo>
                  <a:lnTo>
                    <a:pt x="2876693" y="1679186"/>
                  </a:lnTo>
                  <a:lnTo>
                    <a:pt x="0" y="1679186"/>
                  </a:lnTo>
                  <a:close/>
                </a:path>
              </a:pathLst>
            </a:custGeom>
            <a:ln w="38100" cap="sq">
              <a:solidFill>
                <a:srgbClr val="9BDAE9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76693" cy="1726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947298" y="4092688"/>
            <a:ext cx="639340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STRUCTURE: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27053" y="4190346"/>
            <a:ext cx="9783150" cy="606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data/raw_data.csv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data/cleaned_data.csv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notebooks/1_data_cleaning.ipynb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notebooks/2_eda.ipynb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notebooks/3_analysis.ipynb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reports/executive_summary.pdf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reports/technical_report.pdf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presentations/business_presentation.pptx</a:t>
            </a:r>
          </a:p>
          <a:p>
            <a:pPr algn="ctr" marL="675648" indent="-337824" lvl="1">
              <a:lnSpc>
                <a:spcPts val="4381"/>
              </a:lnSpc>
              <a:buFont typeface="Arial"/>
              <a:buChar char="•"/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README.md</a:t>
            </a:r>
          </a:p>
          <a:p>
            <a:pPr algn="ctr">
              <a:lnSpc>
                <a:spcPts val="438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6021566" y="1558017"/>
            <a:ext cx="5994124" cy="1773322"/>
            <a:chOff x="0" y="0"/>
            <a:chExt cx="27474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63750" y="1700201"/>
            <a:ext cx="5994124" cy="1773322"/>
            <a:chOff x="0" y="0"/>
            <a:chExt cx="27474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30126" y="1700201"/>
            <a:ext cx="6027748" cy="149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FILES AND FOLDERS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68496" y="3470252"/>
            <a:ext cx="14194906" cy="616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The project includes graphs and plots generated by Python scripts to demonstrate insights: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1. </a:t>
            </a: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Distribution of numerical features: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histograms for price, quantity, discount, tax, and shippingcost.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2. </a:t>
            </a: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Categorical distributions: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countplots for category, subcategory, region, paymentmethod, and orderstatus.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3. Correlation heatmap: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showing relationships between numerical features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. </a:t>
            </a: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4. Revenue analysis: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total revenue by category, region, and top products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. </a:t>
            </a: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5. Monthly sales trend: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line plot showing sales over time.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6. Category vs Region heatmap: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highlights top-performing regions and categories.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7. Discount vs Sales scatterplot: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visualizes the effect of discounts on revenue.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b="true" sz="2933">
                <a:solidFill>
                  <a:srgbClr val="000000"/>
                </a:solidFill>
                <a:latin typeface="DG Jory Bold"/>
                <a:ea typeface="DG Jory Bold"/>
                <a:cs typeface="DG Jory Bold"/>
                <a:sym typeface="DG Jory Bold"/>
              </a:rPr>
              <a:t>8. Top customers by revenue: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identifies high-value customers for targeted marketing.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2807" y="1028700"/>
            <a:ext cx="7558037" cy="2366043"/>
            <a:chOff x="0" y="0"/>
            <a:chExt cx="3464217" cy="10844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64217" cy="1084473"/>
            </a:xfrm>
            <a:custGeom>
              <a:avLst/>
              <a:gdLst/>
              <a:ahLst/>
              <a:cxnLst/>
              <a:rect r="r" b="b" t="t" l="l"/>
              <a:pathLst>
                <a:path h="1084473" w="3464217">
                  <a:moveTo>
                    <a:pt x="3464217" y="0"/>
                  </a:moveTo>
                  <a:lnTo>
                    <a:pt x="0" y="0"/>
                  </a:lnTo>
                  <a:lnTo>
                    <a:pt x="0" y="896513"/>
                  </a:lnTo>
                  <a:lnTo>
                    <a:pt x="157480" y="896513"/>
                  </a:lnTo>
                  <a:lnTo>
                    <a:pt x="157480" y="1084473"/>
                  </a:lnTo>
                  <a:lnTo>
                    <a:pt x="463550" y="896513"/>
                  </a:lnTo>
                  <a:lnTo>
                    <a:pt x="3464217" y="896513"/>
                  </a:lnTo>
                  <a:lnTo>
                    <a:pt x="346421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464217" cy="941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8496" y="1438128"/>
            <a:ext cx="6834772" cy="138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8"/>
              </a:lnSpc>
            </a:pPr>
            <a:r>
              <a:rPr lang="en-US" sz="452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VISUAL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393327"/>
            <a:ext cx="6932472" cy="2051351"/>
            <a:chOff x="0" y="0"/>
            <a:chExt cx="3177490" cy="940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90" cy="940234"/>
            </a:xfrm>
            <a:custGeom>
              <a:avLst/>
              <a:gdLst/>
              <a:ahLst/>
              <a:cxnLst/>
              <a:rect r="r" b="b" t="t" l="l"/>
              <a:pathLst>
                <a:path h="940234" w="3177490">
                  <a:moveTo>
                    <a:pt x="3177490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77490" y="752274"/>
                  </a:lnTo>
                  <a:lnTo>
                    <a:pt x="317749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77490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9633" y="393327"/>
            <a:ext cx="6862964" cy="2051351"/>
            <a:chOff x="0" y="0"/>
            <a:chExt cx="3145632" cy="940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5632" cy="940234"/>
            </a:xfrm>
            <a:custGeom>
              <a:avLst/>
              <a:gdLst/>
              <a:ahLst/>
              <a:cxnLst/>
              <a:rect r="r" b="b" t="t" l="l"/>
              <a:pathLst>
                <a:path h="940234" w="3145632">
                  <a:moveTo>
                    <a:pt x="3145632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45632" y="752274"/>
                  </a:lnTo>
                  <a:lnTo>
                    <a:pt x="314563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45632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172774" y="3908258"/>
            <a:ext cx="11214203" cy="5607102"/>
          </a:xfrm>
          <a:custGeom>
            <a:avLst/>
            <a:gdLst/>
            <a:ahLst/>
            <a:cxnLst/>
            <a:rect r="r" b="b" t="t" l="l"/>
            <a:pathLst>
              <a:path h="5607102" w="11214203">
                <a:moveTo>
                  <a:pt x="0" y="0"/>
                </a:moveTo>
                <a:lnTo>
                  <a:pt x="11214203" y="0"/>
                </a:lnTo>
                <a:lnTo>
                  <a:pt x="11214203" y="5607101"/>
                </a:lnTo>
                <a:lnTo>
                  <a:pt x="0" y="56071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11232" y="671356"/>
            <a:ext cx="6231246" cy="118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10 QUANTITIES</a:t>
            </a:r>
          </a:p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 PRODUCT SOLD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64648" y="2779057"/>
            <a:ext cx="10164068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top-selling pro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ucts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ntifie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us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aggregated quantity.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6710" y="3285308"/>
            <a:ext cx="7080945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rplot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 top 10 prod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cts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qu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tity sold.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393327"/>
            <a:ext cx="6932472" cy="2051351"/>
            <a:chOff x="0" y="0"/>
            <a:chExt cx="3177490" cy="940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90" cy="940234"/>
            </a:xfrm>
            <a:custGeom>
              <a:avLst/>
              <a:gdLst/>
              <a:ahLst/>
              <a:cxnLst/>
              <a:rect r="r" b="b" t="t" l="l"/>
              <a:pathLst>
                <a:path h="940234" w="3177490">
                  <a:moveTo>
                    <a:pt x="3177490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77490" y="752274"/>
                  </a:lnTo>
                  <a:lnTo>
                    <a:pt x="317749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77490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9633" y="393327"/>
            <a:ext cx="6862964" cy="2051351"/>
            <a:chOff x="0" y="0"/>
            <a:chExt cx="3145632" cy="940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5632" cy="940234"/>
            </a:xfrm>
            <a:custGeom>
              <a:avLst/>
              <a:gdLst/>
              <a:ahLst/>
              <a:cxnLst/>
              <a:rect r="r" b="b" t="t" l="l"/>
              <a:pathLst>
                <a:path h="940234" w="3145632">
                  <a:moveTo>
                    <a:pt x="3145632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45632" y="752274"/>
                  </a:lnTo>
                  <a:lnTo>
                    <a:pt x="314563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45632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980486" y="3866966"/>
            <a:ext cx="11301259" cy="5650629"/>
          </a:xfrm>
          <a:custGeom>
            <a:avLst/>
            <a:gdLst/>
            <a:ahLst/>
            <a:cxnLst/>
            <a:rect r="r" b="b" t="t" l="l"/>
            <a:pathLst>
              <a:path h="5650629" w="1130125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0739" y="1028700"/>
            <a:ext cx="6231246" cy="59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REVENUE BY REIGON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19293" y="2779057"/>
            <a:ext cx="10854779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Aggregated total_sales by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gion to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identif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h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gh-p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rform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s.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94162" y="3285308"/>
            <a:ext cx="4986040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char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 of r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 by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reg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393327"/>
            <a:ext cx="6932472" cy="2051351"/>
            <a:chOff x="0" y="0"/>
            <a:chExt cx="3177490" cy="940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90" cy="940234"/>
            </a:xfrm>
            <a:custGeom>
              <a:avLst/>
              <a:gdLst/>
              <a:ahLst/>
              <a:cxnLst/>
              <a:rect r="r" b="b" t="t" l="l"/>
              <a:pathLst>
                <a:path h="940234" w="3177490">
                  <a:moveTo>
                    <a:pt x="3177490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77490" y="752274"/>
                  </a:lnTo>
                  <a:lnTo>
                    <a:pt x="317749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77490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9633" y="393327"/>
            <a:ext cx="6862964" cy="2051351"/>
            <a:chOff x="0" y="0"/>
            <a:chExt cx="3145632" cy="940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5632" cy="940234"/>
            </a:xfrm>
            <a:custGeom>
              <a:avLst/>
              <a:gdLst/>
              <a:ahLst/>
              <a:cxnLst/>
              <a:rect r="r" b="b" t="t" l="l"/>
              <a:pathLst>
                <a:path h="940234" w="3145632">
                  <a:moveTo>
                    <a:pt x="3145632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45632" y="752274"/>
                  </a:lnTo>
                  <a:lnTo>
                    <a:pt x="314563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45632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742065" y="4124141"/>
            <a:ext cx="8264686" cy="5509791"/>
          </a:xfrm>
          <a:custGeom>
            <a:avLst/>
            <a:gdLst/>
            <a:ahLst/>
            <a:cxnLst/>
            <a:rect r="r" b="b" t="t" l="l"/>
            <a:pathLst>
              <a:path h="5509791" w="8264686">
                <a:moveTo>
                  <a:pt x="0" y="0"/>
                </a:moveTo>
                <a:lnTo>
                  <a:pt x="8264686" y="0"/>
                </a:lnTo>
                <a:lnTo>
                  <a:pt x="826468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0739" y="828853"/>
            <a:ext cx="6231246" cy="118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PAYMENT METHOD DISTRIBUTION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86614" y="2779057"/>
            <a:ext cx="7520136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 of transact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p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aym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entmethod.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51186" y="3285308"/>
            <a:ext cx="10471993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Useful fo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planning an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payment str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 optimizat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393327"/>
            <a:ext cx="6932472" cy="2051351"/>
            <a:chOff x="0" y="0"/>
            <a:chExt cx="3177490" cy="940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90" cy="940234"/>
            </a:xfrm>
            <a:custGeom>
              <a:avLst/>
              <a:gdLst/>
              <a:ahLst/>
              <a:cxnLst/>
              <a:rect r="r" b="b" t="t" l="l"/>
              <a:pathLst>
                <a:path h="940234" w="3177490">
                  <a:moveTo>
                    <a:pt x="3177490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77490" y="752274"/>
                  </a:lnTo>
                  <a:lnTo>
                    <a:pt x="317749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77490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9633" y="393327"/>
            <a:ext cx="6862964" cy="2051351"/>
            <a:chOff x="0" y="0"/>
            <a:chExt cx="3145632" cy="940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5632" cy="940234"/>
            </a:xfrm>
            <a:custGeom>
              <a:avLst/>
              <a:gdLst/>
              <a:ahLst/>
              <a:cxnLst/>
              <a:rect r="r" b="b" t="t" l="l"/>
              <a:pathLst>
                <a:path h="940234" w="3145632">
                  <a:moveTo>
                    <a:pt x="3145632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45632" y="752274"/>
                  </a:lnTo>
                  <a:lnTo>
                    <a:pt x="314563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45632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404622" y="4124141"/>
            <a:ext cx="11301259" cy="5650629"/>
          </a:xfrm>
          <a:custGeom>
            <a:avLst/>
            <a:gdLst/>
            <a:ahLst/>
            <a:cxnLst/>
            <a:rect r="r" b="b" t="t" l="l"/>
            <a:pathLst>
              <a:path h="5650629" w="11301259">
                <a:moveTo>
                  <a:pt x="0" y="0"/>
                </a:moveTo>
                <a:lnTo>
                  <a:pt x="11301259" y="0"/>
                </a:lnTo>
                <a:lnTo>
                  <a:pt x="11301259" y="5650629"/>
                </a:lnTo>
                <a:lnTo>
                  <a:pt x="0" y="56506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0739" y="828853"/>
            <a:ext cx="6231246" cy="590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MONTHLY SALES TREND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54776" y="2779057"/>
            <a:ext cx="9783812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Aggregated total_sale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by m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nth to identify seasonal patterns.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39950" y="3285308"/>
            <a:ext cx="9294465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peak sales months fo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promotions or inventory p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393327"/>
            <a:ext cx="6932472" cy="2051351"/>
            <a:chOff x="0" y="0"/>
            <a:chExt cx="3177490" cy="940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90" cy="940234"/>
            </a:xfrm>
            <a:custGeom>
              <a:avLst/>
              <a:gdLst/>
              <a:ahLst/>
              <a:cxnLst/>
              <a:rect r="r" b="b" t="t" l="l"/>
              <a:pathLst>
                <a:path h="940234" w="3177490">
                  <a:moveTo>
                    <a:pt x="3177490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77490" y="752274"/>
                  </a:lnTo>
                  <a:lnTo>
                    <a:pt x="317749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77490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9633" y="393327"/>
            <a:ext cx="6862964" cy="2051351"/>
            <a:chOff x="0" y="0"/>
            <a:chExt cx="3145632" cy="940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5632" cy="940234"/>
            </a:xfrm>
            <a:custGeom>
              <a:avLst/>
              <a:gdLst/>
              <a:ahLst/>
              <a:cxnLst/>
              <a:rect r="r" b="b" t="t" l="l"/>
              <a:pathLst>
                <a:path h="940234" w="3145632">
                  <a:moveTo>
                    <a:pt x="3145632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45632" y="752274"/>
                  </a:lnTo>
                  <a:lnTo>
                    <a:pt x="314563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45632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323622" y="4457046"/>
            <a:ext cx="10983540" cy="5299558"/>
          </a:xfrm>
          <a:custGeom>
            <a:avLst/>
            <a:gdLst/>
            <a:ahLst/>
            <a:cxnLst/>
            <a:rect r="r" b="b" t="t" l="l"/>
            <a:pathLst>
              <a:path h="5299558" w="10983540">
                <a:moveTo>
                  <a:pt x="0" y="0"/>
                </a:moveTo>
                <a:lnTo>
                  <a:pt x="10983540" y="0"/>
                </a:lnTo>
                <a:lnTo>
                  <a:pt x="10983540" y="5299558"/>
                </a:lnTo>
                <a:lnTo>
                  <a:pt x="0" y="5299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0739" y="828853"/>
            <a:ext cx="6231246" cy="118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DISCOUNT VS TOTAL SALES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29898" y="2779057"/>
            <a:ext cx="7833568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Scatter plot of discount vs total_sale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by category.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36743" y="3351513"/>
            <a:ext cx="12619879" cy="90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Evaluates effectiveness of discounts on 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revenue. Some categories respond more to discounts tha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others.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6130126" y="393327"/>
            <a:ext cx="6932472" cy="2051351"/>
            <a:chOff x="0" y="0"/>
            <a:chExt cx="3177490" cy="9402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7490" cy="940234"/>
            </a:xfrm>
            <a:custGeom>
              <a:avLst/>
              <a:gdLst/>
              <a:ahLst/>
              <a:cxnLst/>
              <a:rect r="r" b="b" t="t" l="l"/>
              <a:pathLst>
                <a:path h="940234" w="3177490">
                  <a:moveTo>
                    <a:pt x="3177490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77490" y="752274"/>
                  </a:lnTo>
                  <a:lnTo>
                    <a:pt x="317749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77490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99633" y="393327"/>
            <a:ext cx="6862964" cy="2051351"/>
            <a:chOff x="0" y="0"/>
            <a:chExt cx="3145632" cy="9402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45632" cy="940234"/>
            </a:xfrm>
            <a:custGeom>
              <a:avLst/>
              <a:gdLst/>
              <a:ahLst/>
              <a:cxnLst/>
              <a:rect r="r" b="b" t="t" l="l"/>
              <a:pathLst>
                <a:path h="940234" w="3145632">
                  <a:moveTo>
                    <a:pt x="3145632" y="0"/>
                  </a:moveTo>
                  <a:lnTo>
                    <a:pt x="0" y="0"/>
                  </a:lnTo>
                  <a:lnTo>
                    <a:pt x="0" y="752274"/>
                  </a:lnTo>
                  <a:lnTo>
                    <a:pt x="157480" y="752274"/>
                  </a:lnTo>
                  <a:lnTo>
                    <a:pt x="157480" y="940234"/>
                  </a:lnTo>
                  <a:lnTo>
                    <a:pt x="463550" y="752274"/>
                  </a:lnTo>
                  <a:lnTo>
                    <a:pt x="3145632" y="752274"/>
                  </a:lnTo>
                  <a:lnTo>
                    <a:pt x="3145632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45632" cy="797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344987" y="4457046"/>
            <a:ext cx="11301259" cy="5346879"/>
          </a:xfrm>
          <a:custGeom>
            <a:avLst/>
            <a:gdLst/>
            <a:ahLst/>
            <a:cxnLst/>
            <a:rect r="r" b="b" t="t" l="l"/>
            <a:pathLst>
              <a:path h="5346879" w="11301259">
                <a:moveTo>
                  <a:pt x="0" y="0"/>
                </a:moveTo>
                <a:lnTo>
                  <a:pt x="11301259" y="0"/>
                </a:lnTo>
                <a:lnTo>
                  <a:pt x="11301259" y="5346879"/>
                </a:lnTo>
                <a:lnTo>
                  <a:pt x="0" y="5346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68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480739" y="828853"/>
            <a:ext cx="6231246" cy="1180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4"/>
              </a:lnSpc>
            </a:pPr>
            <a:r>
              <a:rPr lang="en-US" sz="388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TOP CUSTOMERS BY 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2527" y="2779057"/>
            <a:ext cx="6488311" cy="43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Aggregated total_sale</a:t>
            </a:r>
            <a:r>
              <a:rPr lang="en-US" b="true" sz="25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 by customername.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36743" y="3351513"/>
            <a:ext cx="12619879" cy="448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Identify high-value customers for loyalty prog</a:t>
            </a:r>
            <a:r>
              <a:rPr lang="en-US" b="true" sz="2600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rams and targeted marketing.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082137" y="-495020"/>
            <a:ext cx="9287959" cy="8409825"/>
          </a:xfrm>
          <a:custGeom>
            <a:avLst/>
            <a:gdLst/>
            <a:ahLst/>
            <a:cxnLst/>
            <a:rect r="r" b="b" t="t" l="l"/>
            <a:pathLst>
              <a:path h="8409825" w="9287959">
                <a:moveTo>
                  <a:pt x="9287960" y="8409824"/>
                </a:moveTo>
                <a:lnTo>
                  <a:pt x="0" y="8409824"/>
                </a:lnTo>
                <a:lnTo>
                  <a:pt x="0" y="0"/>
                </a:lnTo>
                <a:lnTo>
                  <a:pt x="9287960" y="0"/>
                </a:lnTo>
                <a:lnTo>
                  <a:pt x="9287960" y="84098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07933" y="804978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7"/>
                </a:lnTo>
                <a:lnTo>
                  <a:pt x="0" y="666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8303269" y="8738243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3" y="0"/>
                </a:moveTo>
                <a:lnTo>
                  <a:pt x="0" y="0"/>
                </a:lnTo>
                <a:lnTo>
                  <a:pt x="0" y="6664266"/>
                </a:lnTo>
                <a:lnTo>
                  <a:pt x="7360133" y="6664266"/>
                </a:lnTo>
                <a:lnTo>
                  <a:pt x="73601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468496" y="3490502"/>
            <a:ext cx="14194906" cy="462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6"/>
              </a:lnSpc>
            </a:pPr>
            <a:r>
              <a:rPr lang="en-US" sz="2933">
                <a:solidFill>
                  <a:srgbClr val="1800AD"/>
                </a:solidFill>
                <a:latin typeface="DG Jory"/>
                <a:ea typeface="DG Jory"/>
                <a:cs typeface="DG Jory"/>
                <a:sym typeface="DG Jory"/>
              </a:rPr>
              <a:t>            </a:t>
            </a:r>
            <a:r>
              <a:rPr lang="en-US" sz="2933" b="true">
                <a:solidFill>
                  <a:srgbClr val="1800AD"/>
                </a:solidFill>
                <a:latin typeface="DG Jory Bold"/>
                <a:ea typeface="DG Jory Bold"/>
                <a:cs typeface="DG Jory Bold"/>
                <a:sym typeface="DG Jory Bold"/>
              </a:rPr>
              <a:t> Test Case                                                        Method                                                                                               Result</a:t>
            </a:r>
          </a:p>
          <a:p>
            <a:pPr algn="l">
              <a:lnSpc>
                <a:spcPts val="4106"/>
              </a:lnSpc>
            </a:pP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Miss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in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g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val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ue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                           F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n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ll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with default or median                                                    Pass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Data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yp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v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ali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da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tion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     Convert numeric/text types                                                        Pass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Negative prices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               Re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plac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w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i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 median                                                                             Pass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Duplicates                                        Drop duplicat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rd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erID                                                                     Pass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Revenue calcul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ation             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tot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l_s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a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les formula checked                                                      Pas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 </a:t>
            </a:r>
          </a:p>
          <a:p>
            <a:pPr algn="l" marL="633272" indent="-316636" lvl="1">
              <a:lnSpc>
                <a:spcPts val="4106"/>
              </a:lnSpc>
              <a:buFont typeface="Arial"/>
              <a:buChar char="•"/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Up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s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el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l 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op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po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r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</a:t>
            </a: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unity                    Filter by quantity and revenue                                                   Pass</a:t>
            </a:r>
          </a:p>
          <a:p>
            <a:pPr algn="l">
              <a:lnSpc>
                <a:spcPts val="4106"/>
              </a:lnSpc>
            </a:pPr>
            <a:r>
              <a:rPr lang="en-US" sz="2933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      identification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2807" y="1028700"/>
            <a:ext cx="7558037" cy="2366043"/>
            <a:chOff x="0" y="0"/>
            <a:chExt cx="3464217" cy="10844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64217" cy="1084473"/>
            </a:xfrm>
            <a:custGeom>
              <a:avLst/>
              <a:gdLst/>
              <a:ahLst/>
              <a:cxnLst/>
              <a:rect r="r" b="b" t="t" l="l"/>
              <a:pathLst>
                <a:path h="1084473" w="3464217">
                  <a:moveTo>
                    <a:pt x="3464217" y="0"/>
                  </a:moveTo>
                  <a:lnTo>
                    <a:pt x="0" y="0"/>
                  </a:lnTo>
                  <a:lnTo>
                    <a:pt x="0" y="896513"/>
                  </a:lnTo>
                  <a:lnTo>
                    <a:pt x="157480" y="896513"/>
                  </a:lnTo>
                  <a:lnTo>
                    <a:pt x="157480" y="1084473"/>
                  </a:lnTo>
                  <a:lnTo>
                    <a:pt x="463550" y="896513"/>
                  </a:lnTo>
                  <a:lnTo>
                    <a:pt x="3464217" y="896513"/>
                  </a:lnTo>
                  <a:lnTo>
                    <a:pt x="3464217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464217" cy="941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8496" y="1438128"/>
            <a:ext cx="6834772" cy="138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8"/>
              </a:lnSpc>
            </a:pPr>
            <a:r>
              <a:rPr lang="en-US" sz="452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TESTING &amp; VALIDATION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350372" y="2613331"/>
            <a:ext cx="10406650" cy="440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The analysis provides comprehensive insights into product performance, regional sales, customer behavior, and discount effectiveness.</a:t>
            </a:r>
          </a:p>
          <a:p>
            <a:pPr algn="ctr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Key business recommendations include targeted upsell promotions, marketing focus on high-revenue regions, and inventory prioritization. </a:t>
            </a:r>
          </a:p>
          <a:p>
            <a:pPr algn="ctr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     The modular Python code ensures reproducibility and scalability for future datasets.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30126" y="671356"/>
            <a:ext cx="5994124" cy="1773322"/>
            <a:chOff x="0" y="0"/>
            <a:chExt cx="27474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solidFill>
              <a:srgbClr val="9BDA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130126" y="671356"/>
            <a:ext cx="5994124" cy="1773322"/>
            <a:chOff x="0" y="0"/>
            <a:chExt cx="27474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7400" cy="812800"/>
            </a:xfrm>
            <a:custGeom>
              <a:avLst/>
              <a:gdLst/>
              <a:ahLst/>
              <a:cxnLst/>
              <a:rect r="r" b="b" t="t" l="l"/>
              <a:pathLst>
                <a:path h="812800" w="2747400">
                  <a:moveTo>
                    <a:pt x="2747400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157480" y="624840"/>
                  </a:lnTo>
                  <a:lnTo>
                    <a:pt x="157480" y="812800"/>
                  </a:lnTo>
                  <a:lnTo>
                    <a:pt x="463550" y="624840"/>
                  </a:lnTo>
                  <a:lnTo>
                    <a:pt x="2747400" y="624840"/>
                  </a:lnTo>
                  <a:lnTo>
                    <a:pt x="2747400" y="0"/>
                  </a:lnTo>
                  <a:close/>
                </a:path>
              </a:pathLst>
            </a:custGeom>
            <a:ln w="66675" cap="sq">
              <a:solidFill>
                <a:srgbClr val="56C3D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747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204671" y="951602"/>
            <a:ext cx="6027748" cy="74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7"/>
              </a:lnSpc>
            </a:pPr>
            <a:r>
              <a:rPr lang="en-US" sz="49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680067" y="4897467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607933" y="-126175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7"/>
                </a:moveTo>
                <a:lnTo>
                  <a:pt x="0" y="6664267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57022" y="6029979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0" y="0"/>
                </a:moveTo>
                <a:lnTo>
                  <a:pt x="7360134" y="0"/>
                </a:lnTo>
                <a:lnTo>
                  <a:pt x="7360134" y="6664266"/>
                </a:lnTo>
                <a:lnTo>
                  <a:pt x="0" y="666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-3530978" y="-2407245"/>
            <a:ext cx="7360133" cy="6664266"/>
          </a:xfrm>
          <a:custGeom>
            <a:avLst/>
            <a:gdLst/>
            <a:ahLst/>
            <a:cxnLst/>
            <a:rect r="r" b="b" t="t" l="l"/>
            <a:pathLst>
              <a:path h="6664266" w="7360133">
                <a:moveTo>
                  <a:pt x="7360134" y="6664266"/>
                </a:moveTo>
                <a:lnTo>
                  <a:pt x="0" y="6664266"/>
                </a:lnTo>
                <a:lnTo>
                  <a:pt x="0" y="0"/>
                </a:lnTo>
                <a:lnTo>
                  <a:pt x="7360134" y="0"/>
                </a:lnTo>
                <a:lnTo>
                  <a:pt x="7360134" y="6664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4751838" y="4153209"/>
            <a:ext cx="8784324" cy="1261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12"/>
              </a:lnSpc>
              <a:spcBef>
                <a:spcPct val="0"/>
              </a:spcBef>
            </a:pPr>
            <a:r>
              <a:rPr lang="en-US" b="true" sz="8344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89181" y="5411320"/>
            <a:ext cx="5109638" cy="740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By Vinay Tivarekar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9181" y="1019175"/>
            <a:ext cx="5109638" cy="4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26"/>
              </a:lnSpc>
              <a:spcBef>
                <a:spcPct val="0"/>
              </a:spcBef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Capstone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41804" y="8775675"/>
            <a:ext cx="6204392" cy="48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6"/>
              </a:lnSpc>
            </a:pPr>
            <a:r>
              <a:rPr lang="en-US" sz="3105">
                <a:solidFill>
                  <a:srgbClr val="000000"/>
                </a:solidFill>
                <a:latin typeface="DG Jory"/>
                <a:ea typeface="DG Jory"/>
                <a:cs typeface="DG Jory"/>
                <a:sym typeface="DG Jory"/>
              </a:rPr>
              <a:t>The developers Arena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DAHBRPP6bHY</dc:identifier>
  <dcterms:modified xsi:type="dcterms:W3CDTF">2011-08-01T06:04:30Z</dcterms:modified>
  <cp:revision>1</cp:revision>
  <dc:title>Blue and White Minimalist Project Presentation</dc:title>
</cp:coreProperties>
</file>